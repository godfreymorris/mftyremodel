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6" r:id="rId2"/>
    <p:sldId id="269" r:id="rId3"/>
    <p:sldId id="258" r:id="rId4"/>
    <p:sldId id="263" r:id="rId5"/>
    <p:sldId id="260" r:id="rId6"/>
    <p:sldId id="259" r:id="rId7"/>
    <p:sldId id="262" r:id="rId8"/>
    <p:sldId id="261" r:id="rId9"/>
    <p:sldId id="264" r:id="rId10"/>
    <p:sldId id="268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99262-212E-4FB7-89E6-2347BA1F3A81}" v="134" dt="2025-09-22T17:19:37.393"/>
    <p1510:client id="{103260D3-776D-4E73-B8F9-92410E336DA1}" v="625" dt="2025-09-21T16:43:19.834"/>
    <p1510:client id="{8E5AB0DF-6181-4DF4-9B80-AAA1F13EC27C}" v="841" dt="2025-09-21T16:01:45.778"/>
    <p1510:client id="{A62D7E0E-7771-417B-840D-F4CBFBD312DE}" v="534" dt="2025-09-21T14:12:26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6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91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3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4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4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92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7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99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89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61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94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89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F6859-6AEF-9A94-33BE-26051FE0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1DDC8-FCA7-4C93-89E1-91E8A0543634}" type="datetime1">
              <a:rPr lang="en-US"/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8493-0788-BA95-6B4D-84B152FD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1B152-293B-7133-9835-A2639E52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</a:t>
            </a:fld>
            <a:endParaRPr lang="en-US" dirty="0"/>
          </a:p>
        </p:txBody>
      </p:sp>
      <p:pic>
        <p:nvPicPr>
          <p:cNvPr id="14" name="Content Placeholder 13" descr="A blue and white logo&#10;&#10;AI-generated content may be incorrect.">
            <a:extLst>
              <a:ext uri="{FF2B5EF4-FFF2-40B4-BE49-F238E27FC236}">
                <a16:creationId xmlns:a16="http://schemas.microsoft.com/office/drawing/2014/main" id="{FD9567E5-8BE3-F607-4CD1-DD09FC745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3771" y="648834"/>
            <a:ext cx="3323195" cy="1866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B251D9-7791-3DDE-6A92-0B7CCD7E844D}"/>
              </a:ext>
            </a:extLst>
          </p:cNvPr>
          <p:cNvSpPr txBox="1"/>
          <p:nvPr/>
        </p:nvSpPr>
        <p:spPr>
          <a:xfrm>
            <a:off x="842320" y="3200400"/>
            <a:ext cx="9704171" cy="31624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cs typeface="Segoe UI"/>
              </a:rPr>
              <a:t>​</a:t>
            </a:r>
            <a:endParaRPr lang="en-US" dirty="0">
              <a:latin typeface="Neue Haas Grotesk Text Pro"/>
              <a:cs typeface="Segoe UI"/>
            </a:endParaRPr>
          </a:p>
          <a:p>
            <a:r>
              <a:rPr lang="en-US" sz="1050" b="1" dirty="0">
                <a:latin typeface="Neue Haas Grotesk Text Pro"/>
                <a:cs typeface="Segoe UI"/>
              </a:rPr>
              <a:t>                                                                                                               </a:t>
            </a:r>
            <a:r>
              <a:rPr lang="en-US" sz="1100" b="1" dirty="0">
                <a:latin typeface="Neue Haas Grotesk Text Pro"/>
                <a:cs typeface="Segoe UI"/>
              </a:rPr>
              <a:t>   </a:t>
            </a:r>
            <a:r>
              <a:rPr lang="en-US" sz="2400" dirty="0">
                <a:latin typeface="Arial"/>
                <a:cs typeface="Segoe UI"/>
              </a:rPr>
              <a:t>​</a:t>
            </a:r>
            <a:endParaRPr lang="en-US" dirty="0"/>
          </a:p>
          <a:p>
            <a:r>
              <a:rPr lang="en-US" sz="1050" dirty="0">
                <a:latin typeface="Arial"/>
                <a:cs typeface="Segoe UI"/>
              </a:rPr>
              <a:t>​</a:t>
            </a:r>
          </a:p>
          <a:p>
            <a:r>
              <a:rPr lang="en-US" sz="1050" dirty="0">
                <a:latin typeface="Arial"/>
                <a:cs typeface="Segoe UI"/>
              </a:rPr>
              <a:t>​</a:t>
            </a:r>
          </a:p>
          <a:p>
            <a:r>
              <a:rPr lang="en-US" b="1" dirty="0">
                <a:latin typeface="Arial"/>
                <a:cs typeface="Segoe UI"/>
              </a:rPr>
              <a:t>Faculty,</a:t>
            </a:r>
            <a:endParaRPr lang="en-US" dirty="0"/>
          </a:p>
          <a:p>
            <a:r>
              <a:rPr lang="en-US" sz="1050" dirty="0">
                <a:latin typeface="Arial"/>
                <a:cs typeface="Segoe UI"/>
              </a:rPr>
              <a:t>​</a:t>
            </a:r>
            <a:endParaRPr lang="en-US">
              <a:latin typeface="Arial"/>
              <a:cs typeface="Segoe UI"/>
            </a:endParaRPr>
          </a:p>
          <a:p>
            <a:r>
              <a:rPr lang="en-US" dirty="0">
                <a:latin typeface="Arial"/>
                <a:cs typeface="Segoe UI"/>
              </a:rPr>
              <a:t>Dr. Hariharan Sankara Subramanian </a:t>
            </a:r>
          </a:p>
          <a:p>
            <a:r>
              <a:rPr lang="en-US" dirty="0">
                <a:latin typeface="Arial"/>
                <a:cs typeface="Segoe UI"/>
              </a:rPr>
              <a:t>SOME, Associate Professor  </a:t>
            </a:r>
            <a:r>
              <a:rPr lang="en-US" sz="1050" dirty="0">
                <a:latin typeface="Arial"/>
                <a:cs typeface="Segoe UI"/>
              </a:rPr>
              <a:t>                                ​</a:t>
            </a:r>
            <a:endParaRPr lang="en-US" dirty="0"/>
          </a:p>
          <a:p>
            <a:r>
              <a:rPr lang="en-US" sz="1050" dirty="0">
                <a:latin typeface="Arial"/>
                <a:cs typeface="Segoe U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dirty="0">
                <a:latin typeface="Arial"/>
                <a:cs typeface="Segoe UI"/>
              </a:rPr>
              <a:t>Mathanesh A B 126009058​</a:t>
            </a:r>
          </a:p>
          <a:p>
            <a:r>
              <a:rPr lang="en-US" dirty="0">
                <a:latin typeface="Arial"/>
                <a:cs typeface="Segoe UI"/>
              </a:rPr>
              <a:t>                                                                                                 Sankara Hari Sudan 126009105​</a:t>
            </a:r>
          </a:p>
          <a:p>
            <a:r>
              <a:rPr lang="en-US" dirty="0">
                <a:latin typeface="Arial"/>
                <a:cs typeface="Segoe UI"/>
              </a:rPr>
              <a:t>                                                                                                 Nitheeshkumar S 126009068​</a:t>
            </a:r>
          </a:p>
          <a:p>
            <a:r>
              <a:rPr lang="en-US" dirty="0">
                <a:latin typeface="Arial"/>
                <a:cs typeface="Segoe UI"/>
              </a:rPr>
              <a:t>​</a:t>
            </a:r>
          </a:p>
          <a:p>
            <a:r>
              <a:rPr lang="en-US" sz="800" dirty="0" err="1">
                <a:solidFill>
                  <a:srgbClr val="FFFFFF"/>
                </a:solidFill>
                <a:cs typeface="Segoe UI"/>
              </a:rPr>
              <a:t>nkadra</a:t>
            </a:r>
            <a:r>
              <a:rPr lang="en-US" sz="800" dirty="0">
                <a:solidFill>
                  <a:srgbClr val="FFFFFF"/>
                </a:solidFill>
                <a:cs typeface="Segoe UI"/>
              </a:rPr>
              <a:t> Subramanian</a:t>
            </a:r>
            <a:r>
              <a:rPr lang="en-US" sz="800" dirty="0">
                <a:cs typeface="Segoe UI"/>
              </a:rPr>
              <a:t>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50C00-4E45-14F9-E295-F774DF92591E}"/>
              </a:ext>
            </a:extLst>
          </p:cNvPr>
          <p:cNvSpPr txBox="1"/>
          <p:nvPr/>
        </p:nvSpPr>
        <p:spPr>
          <a:xfrm>
            <a:off x="4112763" y="1021290"/>
            <a:ext cx="355899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   </a:t>
            </a:r>
            <a:r>
              <a:rPr lang="en-US" sz="1200" b="1" dirty="0">
                <a:latin typeface="Neue Haas Grotesk Text Pro"/>
                <a:cs typeface="Arial"/>
              </a:rPr>
              <a:t>   </a:t>
            </a:r>
            <a:r>
              <a:rPr lang="en-US" sz="2800" b="1" dirty="0">
                <a:latin typeface="Arial"/>
                <a:cs typeface="Arial"/>
              </a:rPr>
              <a:t>TYRE DYNAMICS</a:t>
            </a:r>
            <a:r>
              <a:rPr lang="en-US" sz="2800" dirty="0">
                <a:latin typeface="Arial"/>
                <a:cs typeface="Arial"/>
              </a:rPr>
              <a:t> 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91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A598B-BC7C-8EE9-6811-12AAA373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50BFB38-4329-4578-8E60-2D65636DA7FD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9/22/2025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7E04-3047-D4C9-254F-3B2BE15E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4FBC1-05B0-8E34-A449-51FF778E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blue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3EBAD9AC-8F25-2648-4E17-415FBBC94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59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2802-3A2A-79FE-8BCA-E3572741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Filtering(For both lateral and self-aligning moment vs slip):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D6FB-8162-9F9B-0413-BCD74590F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18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To improve signal quality in lateral and self-aligning moment vs slip data, two filtering methods were applied:</a:t>
            </a:r>
            <a:endParaRPr lang="en-US" sz="1800"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Moving Average Method:</a:t>
            </a:r>
            <a:endParaRPr lang="en-US" sz="1800" dirty="0">
              <a:solidFill>
                <a:srgbClr val="161616"/>
              </a:solidFill>
              <a:latin typeface="Arial"/>
              <a:ea typeface="+mn-lt"/>
              <a:cs typeface="+mn-lt"/>
            </a:endParaRPr>
          </a:p>
          <a:p>
            <a:pPr marL="742950" lvl="1" indent="-285750"/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Smooths data by averaging sample points</a:t>
            </a:r>
            <a:endParaRPr lang="en-US">
              <a:latin typeface="Arial"/>
              <a:cs typeface="Arial"/>
            </a:endParaRPr>
          </a:p>
          <a:p>
            <a:pPr marL="742950" lvl="1" indent="-285750"/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Removes large variations and oscillations</a:t>
            </a:r>
            <a:endParaRPr lang="en-US">
              <a:latin typeface="Arial"/>
              <a:cs typeface="Arial"/>
            </a:endParaRPr>
          </a:p>
          <a:p>
            <a:pPr marL="742950" lvl="1" indent="-285750"/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Widely used in data analytics for noise reduction</a:t>
            </a:r>
            <a:endParaRPr lang="en-US"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Fast Fourier Transform (FFT):</a:t>
            </a:r>
            <a:endParaRPr lang="en-US" sz="1800">
              <a:latin typeface="Arial"/>
              <a:cs typeface="Arial"/>
            </a:endParaRPr>
          </a:p>
          <a:p>
            <a:pPr marL="742950" lvl="1" indent="-285750"/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Converts slip-series slip data to frequency domain</a:t>
            </a:r>
          </a:p>
          <a:p>
            <a:pPr marL="742950" lvl="1" indent="-285750"/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Identifies and isolates high-frequency noise components</a:t>
            </a:r>
            <a:endParaRPr lang="en-US">
              <a:latin typeface="Arial"/>
              <a:cs typeface="Arial"/>
            </a:endParaRPr>
          </a:p>
          <a:p>
            <a:pPr marL="742950" lvl="1" indent="-285750"/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After suppressing noise, inverse FFT reconstructs smoother signals</a:t>
            </a:r>
            <a:endParaRPr lang="en-US">
              <a:latin typeface="Arial"/>
              <a:cs typeface="Arial"/>
            </a:endParaRPr>
          </a:p>
          <a:p>
            <a:pPr lvl="1" indent="0">
              <a:buNone/>
            </a:pPr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These methods significantly reduce unwanted oscillations, enhancing data fidelity for accurate modeling.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3BDA-22B8-624C-715D-89C0BA71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EED4-A073-43EB-923E-473972BCD289}" type="datetime1"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2DEF8-7C6B-E6D1-8B7F-E1350B5A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0C91E-0B7A-ABE4-02C4-436B5261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5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AA446-51C6-2338-DB5F-0C712D70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593127"/>
            <a:ext cx="10653579" cy="57162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Extracting Tyre Model Coefficients Using Curve Fitting: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Coefficients for lateral force and self-aligning moment were derived from established models:</a:t>
            </a:r>
            <a:endParaRPr lang="en-US"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i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The Magic Formula Tyre Model</a:t>
            </a:r>
            <a:endParaRPr lang="en-US" sz="2000"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i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Tyre and Vehicle Dynamics</a:t>
            </a: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 by Hans B. </a:t>
            </a:r>
            <a:r>
              <a:rPr lang="en-US" sz="2000" err="1">
                <a:solidFill>
                  <a:srgbClr val="161616"/>
                </a:solidFill>
                <a:latin typeface="Arial"/>
                <a:ea typeface="+mn-lt"/>
                <a:cs typeface="+mn-lt"/>
              </a:rPr>
              <a:t>Pacejka</a:t>
            </a:r>
            <a:endParaRPr lang="en-US" sz="20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MATLAB’s Curve Fitting Tool was used to fit custom equations to filtered data.</a:t>
            </a:r>
            <a:endParaRPr lang="en-US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Statistical validation metrics ensured model accuracy:</a:t>
            </a:r>
            <a:endParaRPr lang="en-US"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R-squared:</a:t>
            </a: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 Measures goodness of fit</a:t>
            </a:r>
            <a:endParaRPr lang="en-US" sz="2000"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0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Root Mean Square Error (RMSE):</a:t>
            </a: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 Quantifies prediction errors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lvl="1" indent="0">
              <a:buNone/>
            </a:pP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These checks confirm the extracted coefficients reliably represent the </a:t>
            </a:r>
            <a:r>
              <a:rPr lang="en-US" sz="2000" dirty="0" err="1">
                <a:solidFill>
                  <a:srgbClr val="161616"/>
                </a:solidFill>
                <a:latin typeface="Arial"/>
                <a:ea typeface="+mn-lt"/>
                <a:cs typeface="+mn-lt"/>
              </a:rPr>
              <a:t>tyre</a:t>
            </a: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 behavior.</a:t>
            </a:r>
            <a:endParaRPr lang="en-US" sz="2000">
              <a:latin typeface="Arial"/>
              <a:cs typeface="Arial"/>
            </a:endParaRPr>
          </a:p>
          <a:p>
            <a:pPr marL="0" indent="0">
              <a:buNone/>
            </a:pPr>
            <a:endParaRPr lang="en-US" sz="1400" b="1" dirty="0">
              <a:solidFill>
                <a:srgbClr val="161616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A0531-193A-7F2C-BA91-8A27C3CB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A0094-9964-4A8A-B834-8AA860C4B747}" type="datetime1"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2C91-A24D-52F0-A041-7741DBCE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E7C9-F554-A7FF-DB16-4FBBF866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66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4D999-F20A-0A5C-47FC-09B36D00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Lateral force vs Slip</a:t>
            </a:r>
            <a:r>
              <a:rPr lang="en-US" sz="3200" dirty="0">
                <a:solidFill>
                  <a:schemeClr val="bg1"/>
                </a:solidFill>
              </a:rPr>
              <a:t>: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screen shot of a graph&#10;&#10;AI-generated content may be incorrect.">
            <a:extLst>
              <a:ext uri="{FF2B5EF4-FFF2-40B4-BE49-F238E27FC236}">
                <a16:creationId xmlns:a16="http://schemas.microsoft.com/office/drawing/2014/main" id="{2830B452-C267-FD6B-30EC-6CDFEE435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989" y="1398135"/>
            <a:ext cx="10779076" cy="4962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7431F-B34D-8C49-0CEB-4AF465A0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D139352-65C9-4819-9885-BB5D6624998A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9/22/2025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9B9C1-AAF4-7A57-8196-9E433349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0D1AD-7F6F-BE3C-AA60-6E377800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31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384E6-887C-FEF6-2D66-6F9104D5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Lateral coefficients: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42E73235-0BEE-59F4-A4D8-A0195E7C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</a:rPr>
              <a:t>The extracted Lateral Coefficients is listed out.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73BEF-64D7-E21F-48B7-A3C897A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pic>
        <p:nvPicPr>
          <p:cNvPr id="8" name="Picture 7" descr="A screenshot of a table&#10;&#10;AI-generated content may be incorrect.">
            <a:extLst>
              <a:ext uri="{FF2B5EF4-FFF2-40B4-BE49-F238E27FC236}">
                <a16:creationId xmlns:a16="http://schemas.microsoft.com/office/drawing/2014/main" id="{E9B035F4-ACF8-361C-77A0-8F80ACD4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3048537"/>
            <a:ext cx="5131088" cy="2263414"/>
          </a:xfrm>
          <a:prstGeom prst="rect">
            <a:avLst/>
          </a:prstGeo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8F1792-4E8F-4A29-2713-B966BA7EC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51383"/>
            <a:ext cx="5131087" cy="393069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F62BA-0C50-0E5C-9058-00768869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31079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4FF09FDA-E8C2-4675-A639-C8AF8A2A56F6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9/22/2025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A9EAC-7CC5-9CC7-5F4B-9541074E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83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DD133-2D9F-9F45-C4A9-3E9298F7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Self-Aligning vs slip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0252E-BD92-0453-A5AD-D964DF46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E255627-ED75-4E58-AA59-127518A9D5B5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9/22/2025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6B96-9B69-C1DE-0E6B-3EA132B1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E91A8-9D89-8C7C-68E6-4CBB6CD0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9" name="Content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FC78153-D4FD-7E7A-2DAC-AA2F7AF75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2501" y="1715532"/>
            <a:ext cx="10442479" cy="463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8BC99-A233-133E-2746-03DB6512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Self-Aligning Moment coefficients: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4F30F-FF22-89CA-423C-859C3F17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C919808B-7A13-4D61-BB2C-47538BE17C1C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9/22/2025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1E9DB-F118-5387-8B9F-67A8C338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3199-64BC-89FC-A4B6-04273231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F23C01A3-840B-5936-9178-FF866CA3C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391" y="1997559"/>
            <a:ext cx="4552260" cy="4221230"/>
          </a:xfrm>
          <a:prstGeom prst="rect">
            <a:avLst/>
          </a:prstGeom>
        </p:spPr>
      </p:pic>
      <p:pic>
        <p:nvPicPr>
          <p:cNvPr id="17" name="Content Placeholder 16" descr="A screenshot of a data&#10;&#10;AI-generated content may be incorrect.">
            <a:extLst>
              <a:ext uri="{FF2B5EF4-FFF2-40B4-BE49-F238E27FC236}">
                <a16:creationId xmlns:a16="http://schemas.microsoft.com/office/drawing/2014/main" id="{E9FF119E-BFE8-645B-70C2-40E2D9712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1604" y="1994388"/>
            <a:ext cx="6354969" cy="422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3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27D2-5FEE-3512-CFFD-4ED7BC583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665208"/>
            <a:ext cx="10653579" cy="56441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Validation Metrics for Curve Fitting Accuracy</a:t>
            </a:r>
          </a:p>
          <a:p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Accuracy of coefficient extraction was validated using:</a:t>
            </a:r>
            <a:endParaRPr lang="en-US" b="1" dirty="0">
              <a:solidFill>
                <a:srgbClr val="161616"/>
              </a:solidFill>
              <a:latin typeface="Arial"/>
              <a:cs typeface="Arial"/>
            </a:endParaRPr>
          </a:p>
          <a:p>
            <a:pPr lvl="1"/>
            <a:r>
              <a:rPr lang="en-US" sz="20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R-squared (R²):</a:t>
            </a: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 Indicates how well the model fits the data (values close to 1 signify excellent fit)</a:t>
            </a:r>
            <a:endParaRPr lang="en-US" sz="2000" dirty="0">
              <a:latin typeface="Arial"/>
              <a:cs typeface="Arial"/>
            </a:endParaRPr>
          </a:p>
          <a:p>
            <a:pPr lvl="1"/>
            <a:r>
              <a:rPr lang="en-US" sz="2000" b="1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Root Mean Square Error (RMSE):</a:t>
            </a:r>
            <a:r>
              <a:rPr lang="en-US" sz="2000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 Measures average deviation between observed and predicted values (value close to 0)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High R² and low RMSE values confirm that the filtering and curve fitting methods yield reliable coefficients.</a:t>
            </a:r>
            <a:endParaRPr lang="en-US" dirty="0">
              <a:latin typeface="Arial"/>
              <a:cs typeface="Arial"/>
            </a:endParaRPr>
          </a:p>
          <a:p>
            <a:r>
              <a:rPr lang="en-US" dirty="0">
                <a:solidFill>
                  <a:srgbClr val="161616"/>
                </a:solidFill>
                <a:latin typeface="Arial"/>
                <a:ea typeface="+mn-lt"/>
                <a:cs typeface="+mn-lt"/>
              </a:rPr>
              <a:t>This ensures confidence in using these coefficients for predictive Tyre models.</a:t>
            </a:r>
            <a:endParaRPr lang="en-US" dirty="0">
              <a:latin typeface="Arial"/>
              <a:cs typeface="Arial"/>
            </a:endParaRPr>
          </a:p>
          <a:p>
            <a:endParaRPr lang="en-US" sz="1400" b="1" dirty="0">
              <a:solidFill>
                <a:srgbClr val="161616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EEB5E-7EA3-0E86-3AAE-D4372273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99A7-4001-440B-B88C-30CA1B66270A}" type="datetime1"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32E6A-F00B-B39C-E200-B2ED3DEF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E8A6-10CA-6412-1830-4F150644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71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8D50-96D9-3DF3-B61F-5EDF7708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1ABA0D-C90E-22FC-C229-5959706AB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242515"/>
              </p:ext>
            </p:extLst>
          </p:nvPr>
        </p:nvGraphicFramePr>
        <p:xfrm>
          <a:off x="612775" y="1716088"/>
          <a:ext cx="10653711" cy="2102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72647307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851735664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3896644150"/>
                    </a:ext>
                  </a:extLst>
                </a:gridCol>
              </a:tblGrid>
              <a:tr h="7009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Coefficients listed out by TVS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Coefficients Obtained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333067"/>
                  </a:ext>
                </a:extLst>
              </a:tr>
              <a:tr h="700959">
                <a:tc>
                  <a:txBody>
                    <a:bodyPr/>
                    <a:lstStyle/>
                    <a:p>
                      <a:r>
                        <a:rPr lang="en-US" dirty="0"/>
                        <a:t>Lateral force vs Slip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334012"/>
                  </a:ext>
                </a:extLst>
              </a:tr>
              <a:tr h="700959">
                <a:tc>
                  <a:txBody>
                    <a:bodyPr/>
                    <a:lstStyle/>
                    <a:p>
                      <a:r>
                        <a:rPr lang="en-US" dirty="0"/>
                        <a:t>Self-Aligning Moment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8514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07DDE-F18F-2B7D-79A0-414B15E1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51C4F-76DE-4C35-A1D6-E49F81AFFD7C}" type="datetime1"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7E9B5-2EB5-3068-A7C7-6991296A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021E-2D03-838F-A6E1-2113F4A5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52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5C09-FD01-120A-584C-9C742ABC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3200" dirty="0">
                <a:solidFill>
                  <a:srgbClr val="161616"/>
                </a:solidFill>
                <a:latin typeface="Arial"/>
                <a:cs typeface="Arial"/>
              </a:rPr>
              <a:t>Key Takeaways and Next Steps</a:t>
            </a:r>
            <a:endParaRPr lang="en-US" sz="28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A4620-8BAA-658B-1A15-CD50CEFC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161616"/>
                </a:solidFill>
                <a:ea typeface="+mn-lt"/>
                <a:cs typeface="+mn-lt"/>
              </a:rPr>
              <a:t>Data filtering via moving average and FFT effectively reduces noise and oscillations in Tyre slip data.</a:t>
            </a:r>
            <a:endParaRPr lang="en-US"/>
          </a:p>
          <a:p>
            <a:r>
              <a:rPr lang="en-US" dirty="0">
                <a:solidFill>
                  <a:srgbClr val="161616"/>
                </a:solidFill>
                <a:ea typeface="+mn-lt"/>
                <a:cs typeface="+mn-lt"/>
              </a:rPr>
              <a:t>Accurate lateral and self-aligning moment coefficients were extracted and validated statistically.</a:t>
            </a:r>
            <a:endParaRPr lang="en-US"/>
          </a:p>
          <a:p>
            <a:r>
              <a:rPr lang="en-US" dirty="0">
                <a:solidFill>
                  <a:srgbClr val="161616"/>
                </a:solidFill>
                <a:ea typeface="+mn-lt"/>
                <a:cs typeface="+mn-lt"/>
              </a:rPr>
              <a:t>Improved data quality enhances confidence in Tyre model predictions for engineering applications.</a:t>
            </a:r>
            <a:endParaRPr lang="en-US" sz="1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96994-B50A-8A56-1506-ACC4D3F9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BF3DB-77FB-4024-8594-3BD4B8CDEA02}" type="datetime1"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196B-C200-BC0A-D9F0-855FFFCC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D3D44-739E-59C8-6298-781680B0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E162-2844-B39E-1D6A-9BB67A431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3A14-107B-55BF-DAE1-1266A1BF6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H. B. </a:t>
            </a:r>
            <a:r>
              <a:rPr lang="en-US" dirty="0" err="1">
                <a:ea typeface="+mn-lt"/>
                <a:cs typeface="+mn-lt"/>
              </a:rPr>
              <a:t>Pacejka</a:t>
            </a:r>
            <a:r>
              <a:rPr lang="en-US" dirty="0">
                <a:ea typeface="+mn-lt"/>
                <a:cs typeface="+mn-lt"/>
              </a:rPr>
              <a:t> and E. Bakker, “The magic formula </a:t>
            </a:r>
            <a:r>
              <a:rPr lang="en-US" dirty="0" err="1">
                <a:ea typeface="+mn-lt"/>
                <a:cs typeface="+mn-lt"/>
              </a:rPr>
              <a:t>tyre</a:t>
            </a:r>
            <a:r>
              <a:rPr lang="en-US" dirty="0">
                <a:ea typeface="+mn-lt"/>
                <a:cs typeface="+mn-lt"/>
              </a:rPr>
              <a:t> model,” </a:t>
            </a:r>
            <a:r>
              <a:rPr lang="en-US" i="1" dirty="0">
                <a:ea typeface="+mn-lt"/>
                <a:cs typeface="+mn-lt"/>
              </a:rPr>
              <a:t>Vehicle System Dynamics: International Journal of Vehicle Mechanics and Mobility</a:t>
            </a:r>
            <a:r>
              <a:rPr lang="en-US" dirty="0">
                <a:ea typeface="+mn-lt"/>
                <a:cs typeface="+mn-lt"/>
              </a:rPr>
              <a:t>, vol. 21, no. S1, pp. 1–18, 1992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H. B. Pacejka, </a:t>
            </a:r>
            <a:r>
              <a:rPr lang="en-US" i="1" dirty="0">
                <a:ea typeface="+mn-lt"/>
                <a:cs typeface="+mn-lt"/>
              </a:rPr>
              <a:t>Tyre and Vehicle Dynamics</a:t>
            </a:r>
            <a:r>
              <a:rPr lang="en-US" dirty="0">
                <a:ea typeface="+mn-lt"/>
                <a:cs typeface="+mn-lt"/>
              </a:rPr>
              <a:t>, 2nd ed. Oxford, U.K.: Butterworth-Heinemann, 2006.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https://www.edy.es/dev/docs/pacejka-94-parameters-explained-a-comprehensive-guide/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4CB19-64EF-5029-9112-D33D4045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69317-2EC1-4B73-8B0D-AE0F480A9DF5}" type="datetime1">
              <a:t>9/22/2025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AAE1E-F6F5-05D0-762F-11FED419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7D522-AA7E-6776-4163-E14869AD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66065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486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VanillaVTI</vt:lpstr>
      <vt:lpstr>PowerPoint Presentation</vt:lpstr>
      <vt:lpstr>PowerPoint Presentation</vt:lpstr>
      <vt:lpstr>Filtering(For both lateral and self-aligning moment vs slip):</vt:lpstr>
      <vt:lpstr>PowerPoint Presentation</vt:lpstr>
      <vt:lpstr>Lateral force vs Slip:</vt:lpstr>
      <vt:lpstr>Lateral coefficients:</vt:lpstr>
      <vt:lpstr>Self-Aligning vs slip </vt:lpstr>
      <vt:lpstr>Self-Aligning Moment coefficients:</vt:lpstr>
      <vt:lpstr>PowerPoint Presentation</vt:lpstr>
      <vt:lpstr>Summary</vt:lpstr>
      <vt:lpstr>Key Takeaways and Next Steps 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Hariharan S subramanian</cp:lastModifiedBy>
  <cp:revision>441</cp:revision>
  <dcterms:created xsi:type="dcterms:W3CDTF">2025-09-21T13:29:17Z</dcterms:created>
  <dcterms:modified xsi:type="dcterms:W3CDTF">2025-09-22T17:19:57Z</dcterms:modified>
</cp:coreProperties>
</file>